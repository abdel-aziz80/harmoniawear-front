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6E67EC1-05CE-4B72-A768-B0203942A19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70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924C-4850-45BA-9A7F-172BB6B6B70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989687-6337-45F6-835C-7744E0A07B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259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Si question : « Oui, c’est volontaire. Le MLD a servi de base directe à l’implémentation avec PostgreSQL et Prisma.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7EE1-BEAB-4B22-A868-2DFA8975B85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28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198A6-6763-D860-8BA9-33CF46B70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4476FD-585A-BC2B-B8EB-23D93CACE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0881CD-FDD1-1AA4-3FCD-AB6B2FB1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69CE7A-3A40-55EE-1CC6-1267047D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28397-8345-2381-B34A-2464AB8C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0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21CB5-840F-AC89-9C0E-0FBC06BA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25D696-A5C4-5027-8936-1A9569AC4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9E6E5-4919-C17D-8CA0-B3B3E096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C5E324-95FC-62CC-77AF-4C6FC644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ADB0B0-C140-49EF-0B34-C29B27A4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61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2C35F-DE83-1B81-2ACC-5F632CE8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44604-7F00-FDA0-2D4C-1BB7BFBCE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FC39A5-2B87-2C6F-2A80-7AA1F9C3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F22B47-12F8-2C7E-C1A4-EE6CC71F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C3619D-6F39-725E-9198-ACFF3A3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91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3D458-5A1C-20A2-0967-4A9E5E36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9850B6-4576-18A6-0073-C4349DC3F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A3785D-240E-9354-4135-65F98D30C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4DDDA0-2CE5-5709-F6C5-5965E44C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107FBE-4D20-0058-3C7B-1261A85F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64ECDE-8729-2358-15E7-3E04342E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51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AED34-4FDA-DCED-742B-0ECF640C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E6FDFF-63EA-ED59-0285-437D99185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0FBC31-1CA2-0CEF-9E55-36458BCEF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2ADF28-611C-1124-6530-0E225F0BC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3659BC-C682-2570-5963-9345BFCF0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8124EE-C03F-91D5-10EF-76F02AE8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1B3C464-CF7E-2691-2743-B9AA0934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4134013-EA71-E37F-BF31-90F9F0BC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68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8B44D-2FC9-25F2-A5F2-4DDC189B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71D370-E141-C79B-CCE3-772CE275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81A0B9-15C8-8274-2B18-BCF35DAA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AABC38-F5AA-DBB4-6CB7-452E474E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51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A44537-10F3-FE82-17E8-21F37195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CCB2E0-0131-9D87-4358-29B95820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D4440B-69C2-345A-576B-8A6F3EF3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62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4699C-8551-E837-4F11-AC23B2E9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FE8C79-E142-07C4-E337-38F62909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ED2C91-22B1-CE1E-47BD-4DDF3AFD9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5494D3-CC88-4AF5-A311-57A3DCE5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C07C7D-D57D-88FB-011E-7063B319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6500CC-209F-FA27-B93D-1CDC5B92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219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4E0753-F812-F313-F351-82B5F8BA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08C7013-E70C-DAA6-0490-215C0C39E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DFD971-2748-80C9-28CB-4B98AC60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8FC3CA-19F6-3937-3B8F-637B8141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5AB7F4-036E-3A0D-7AF9-5025BA9B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C287A0-D79F-2C08-ED69-32052198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21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30004B-76D6-F30D-4FEE-EF8931B0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2E9238-0E30-D100-388D-13FBD0C7F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1A309D-DD57-4BB1-16AA-B07AAD24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A2600E-8B8D-4E41-437D-6365FDDD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066D69-D349-83EC-FB7D-33F7C829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49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3044967-D8AD-C8EA-FE2F-D472B88A4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A46481-36F8-16DC-85B2-9CCF947D0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CC766B-82B7-881B-1DF9-19A67ABE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CEC9A6-4817-3CE8-1B65-7997788D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17DB60-A5F2-7681-B71A-3A50A5AD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34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C3F7DC-6919-4674-8E4E-37288EE2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1AF601-D4BD-BA29-3DE2-E0E7E907B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8462DE-7959-0E2C-F5A7-0B825C0F2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07216-2ECE-46D4-B570-0989022AB16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C53D00-C227-EBFD-4250-E7579BA46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13A4FD-6B0C-7191-08EE-020415055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68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AFE7-2966-DA98-C827-DB8E707AC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000" b="1" dirty="0"/>
              <a:t>Projet HarmoniaWear</a:t>
            </a:r>
            <a:br>
              <a:rPr lang="fr-FR" sz="4000" b="1" dirty="0"/>
            </a:br>
            <a:r>
              <a:rPr lang="fr-FR" sz="4000" b="1" dirty="0"/>
              <a:t>Projet présenté pour le Titre Professionnel</a:t>
            </a:r>
            <a:br>
              <a:rPr lang="fr-FR" sz="4000" b="1" dirty="0"/>
            </a:br>
            <a:r>
              <a:rPr lang="fr-FR" sz="4000" b="1" dirty="0"/>
              <a:t>Développeur Web et Web Mobile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AF3D61-DB3F-70A3-DDE6-779A7AA71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3106" y="3509963"/>
            <a:ext cx="4787153" cy="1418197"/>
          </a:xfrm>
        </p:spPr>
        <p:txBody>
          <a:bodyPr/>
          <a:lstStyle/>
          <a:p>
            <a:r>
              <a:rPr lang="fr-FR" sz="2800" b="1" dirty="0"/>
              <a:t>Aziz Ayyad</a:t>
            </a:r>
          </a:p>
          <a:p>
            <a:r>
              <a:rPr lang="fr-FR" dirty="0"/>
              <a:t>Session : janvier 2025 – janvier 2026</a:t>
            </a:r>
          </a:p>
        </p:txBody>
      </p:sp>
    </p:spTree>
    <p:extLst>
      <p:ext uri="{BB962C8B-B14F-4D97-AF65-F5344CB8AC3E}">
        <p14:creationId xmlns:p14="http://schemas.microsoft.com/office/powerpoint/2010/main" val="2789843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0A8A-D85D-E2D6-0BC6-9F52C17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E6B43A-87CB-7550-FCF5-CBE5C14E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668871" cy="625755"/>
          </a:xfrm>
        </p:spPr>
        <p:txBody>
          <a:bodyPr>
            <a:noAutofit/>
          </a:bodyPr>
          <a:lstStyle/>
          <a:p>
            <a:r>
              <a:rPr lang="fr-FR" sz="4000" b="1" dirty="0"/>
              <a:t>Contexte du projet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6EC541-49B2-001F-1F69-D82D8FD92A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7847" y="2248845"/>
            <a:ext cx="1033630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Projet web de présentation de collections de vêtements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développée dans un cadre pédagogique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Organisation par univers (streetwear, sportswear,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 orientée vers une évolution e-commerce</a:t>
            </a:r>
          </a:p>
        </p:txBody>
      </p:sp>
    </p:spTree>
    <p:extLst>
      <p:ext uri="{BB962C8B-B14F-4D97-AF65-F5344CB8AC3E}">
        <p14:creationId xmlns:p14="http://schemas.microsoft.com/office/powerpoint/2010/main" val="78512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6B18-60C9-B145-8A5F-1A39DEAA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B2FFC1B-295A-9038-8C72-FEEEB2CB0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Objectifs du projet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1269D7-6272-AA38-0F46-AE0C7D1B38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239881"/>
            <a:ext cx="76917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Afficher des collections de produits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Permettre une navigation par catégories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Séparer clairement le front-end et le back-end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Mettre en place une base technique évolutive</a:t>
            </a:r>
          </a:p>
        </p:txBody>
      </p:sp>
    </p:spTree>
    <p:extLst>
      <p:ext uri="{BB962C8B-B14F-4D97-AF65-F5344CB8AC3E}">
        <p14:creationId xmlns:p14="http://schemas.microsoft.com/office/powerpoint/2010/main" val="402741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DD56-852F-D217-875F-D04A795B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5447414-CEF5-CFF0-F2CB-465CE5EB3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Périmètre fonctionnel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D29C0EFD-88BE-2A71-52B5-FBFB9F0AE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2140790"/>
            <a:ext cx="9144000" cy="3713445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fr-FR" sz="7200" b="1" dirty="0"/>
              <a:t>Inclus dans le projet :</a:t>
            </a:r>
          </a:p>
          <a:p>
            <a:pPr algn="l"/>
            <a:endParaRPr lang="fr-FR" sz="7200" b="1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utilisateur dynamique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back-end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 de données relationnelle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7200" b="1" dirty="0"/>
              <a:t>Hors périmètre :</a:t>
            </a: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7200" dirty="0"/>
              <a:t> Paiement en ligne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7200" dirty="0"/>
              <a:t>Gestion des commandes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7200" dirty="0"/>
              <a:t>Authentification utilisateur avancée</a:t>
            </a:r>
            <a:endParaRPr lang="fr-FR" sz="7200" b="1" dirty="0"/>
          </a:p>
          <a:p>
            <a:endParaRPr lang="fr-FR" sz="7200" dirty="0"/>
          </a:p>
          <a:p>
            <a:endParaRPr lang="fr-FR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3694DDC-949D-EA63-5E2B-DE7E9C0C4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80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73AC-C15E-51C6-EEC2-083A1E37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D8AFE62-46AB-6DF6-F5D5-034D7801C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Choix techniques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5B3474EE-A9F5-AE51-0B1B-9DCF335F1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2140790"/>
            <a:ext cx="9144000" cy="2368457"/>
          </a:xfrm>
        </p:spPr>
        <p:txBody>
          <a:bodyPr>
            <a:normAutofit fontScale="92500" lnSpcReduction="10000"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Front-end</a:t>
            </a:r>
            <a:r>
              <a:rPr lang="fr-FR" dirty="0"/>
              <a:t> : React (Vite)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Back-end</a:t>
            </a:r>
            <a:r>
              <a:rPr lang="fr-FR" dirty="0"/>
              <a:t> : Node.js / Express</a:t>
            </a:r>
            <a:endParaRPr lang="fr-FR" altLang="fr-FR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Base de données</a:t>
            </a:r>
            <a:r>
              <a:rPr lang="fr-FR" dirty="0"/>
              <a:t> : PostgreSQL</a:t>
            </a:r>
            <a:endParaRPr lang="fr-FR" altLang="fr-FR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ORM</a:t>
            </a:r>
            <a:r>
              <a:rPr lang="fr-FR" dirty="0"/>
              <a:t> : Prisma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896B60-19D9-2AB8-C4E0-29B32F95F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15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81D4-E607-89DE-D5F1-79464662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2C471B6-AAD8-7740-15EB-7B81110D6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Architecture générale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A343144F-511B-400C-9C9D-33C1238CE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1953418"/>
            <a:ext cx="9144000" cy="2197241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Application web en architecture client / serveur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Le front-end consomme une API REST</a:t>
            </a:r>
            <a:endParaRPr lang="fr-FR" sz="18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Le back-end centralise la logique métier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800" dirty="0">
                <a:latin typeface="Arial" panose="020B0604020202020204" pitchFamily="34" charset="0"/>
              </a:rPr>
              <a:t> </a:t>
            </a:r>
            <a:r>
              <a:rPr lang="fr-FR" sz="1800" dirty="0"/>
              <a:t>La base de données stocke les informations produites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B882495-C038-6CF0-7693-FE95D26A7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E478DC-2600-C998-6875-6189F0EBAD5B}"/>
              </a:ext>
            </a:extLst>
          </p:cNvPr>
          <p:cNvSpPr txBox="1"/>
          <p:nvPr/>
        </p:nvSpPr>
        <p:spPr>
          <a:xfrm>
            <a:off x="2581835" y="4150658"/>
            <a:ext cx="44554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Utilisateur (Navigateur)</a:t>
            </a:r>
          </a:p>
          <a:p>
            <a:r>
              <a:rPr lang="fr-FR" sz="2000" dirty="0"/>
              <a:t>          ↓</a:t>
            </a:r>
          </a:p>
          <a:p>
            <a:r>
              <a:rPr lang="fr-FR" sz="2000" dirty="0"/>
              <a:t>     Front-end (React + Vite)</a:t>
            </a:r>
          </a:p>
          <a:p>
            <a:r>
              <a:rPr lang="fr-FR" sz="2000" dirty="0"/>
              <a:t>          ↓  API REST</a:t>
            </a:r>
          </a:p>
          <a:p>
            <a:r>
              <a:rPr lang="fr-FR" sz="2000" dirty="0"/>
              <a:t>   Back-end (Node.js / Express)</a:t>
            </a:r>
          </a:p>
          <a:p>
            <a:r>
              <a:rPr lang="fr-FR" sz="2000" dirty="0"/>
              <a:t>          ↓</a:t>
            </a:r>
          </a:p>
          <a:p>
            <a:r>
              <a:rPr lang="fr-FR" sz="2000" dirty="0"/>
              <a:t> Base de données (PostgreSQL)</a:t>
            </a:r>
          </a:p>
        </p:txBody>
      </p:sp>
    </p:spTree>
    <p:extLst>
      <p:ext uri="{BB962C8B-B14F-4D97-AF65-F5344CB8AC3E}">
        <p14:creationId xmlns:p14="http://schemas.microsoft.com/office/powerpoint/2010/main" val="294591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144F-F3ED-D390-D601-BD25CE07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FC3BD76-44CD-011D-C9F7-B21FF9DD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Interface utilisateur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B03EBA32-E0DC-80FB-4077-E058B8137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8" y="1814908"/>
            <a:ext cx="5423647" cy="2197241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Interface responsive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Navigation claire par catégories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Pages dédiées aux univers (streetwear, sportswear…)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800" dirty="0">
                <a:latin typeface="Arial" panose="020B0604020202020204" pitchFamily="34" charset="0"/>
              </a:rPr>
              <a:t> </a:t>
            </a:r>
            <a:r>
              <a:rPr lang="fr-FR" sz="1800" dirty="0"/>
              <a:t>Mise en valeur des produits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B7CA684-65A9-028B-F57D-A7176E4D0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544DF2-7B94-59E3-F050-9B360221B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942" y="1814908"/>
            <a:ext cx="4562166" cy="48817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E76F41B-81F5-B4D0-9815-8F58DF9CB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31" y="4061012"/>
            <a:ext cx="3998259" cy="255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8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57B9-655E-90D9-9D59-15217A6B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80614D3-DDF2-A5FA-DA4E-E008EA132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2936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Dynamique front-end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32FBEA38-1A19-DB6A-4B61-E9CA3ECE2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627" y="1766045"/>
            <a:ext cx="4655176" cy="2266898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Récupération des données via appels API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Affichage dynamique des produits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Composants réutilisables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800" dirty="0">
                <a:latin typeface="Arial" panose="020B0604020202020204" pitchFamily="34" charset="0"/>
              </a:rPr>
              <a:t> </a:t>
            </a:r>
            <a:r>
              <a:rPr lang="fr-FR" sz="1800" dirty="0"/>
              <a:t>Séparation logique entre données et affichage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4741DE7-FD56-AE05-481D-4912BDE4F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texte, capture d’écran, arbre, plein air">
            <a:extLst>
              <a:ext uri="{FF2B5EF4-FFF2-40B4-BE49-F238E27FC236}">
                <a16:creationId xmlns:a16="http://schemas.microsoft.com/office/drawing/2014/main" id="{86D9240F-8A49-C1A0-1FE6-FEE0D1BE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413" y="1615218"/>
            <a:ext cx="6532776" cy="50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8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89BD-2944-E73E-919E-8E3F4201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8DF320E-C073-9E17-4B4A-00C21CC8C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Modèle de données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89492DA-8BF0-F3E5-3F78-B1717A84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43" y="1400266"/>
            <a:ext cx="4655176" cy="1666261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Modélisation de la base de données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Relations entre produits et catégories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Structure pensée pour l’évolution du projet</a:t>
            </a: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3BFDEE-47EE-C955-0DB8-556CA0B0B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 descr="Une image contenant texte, capture d’écran, document, Police&#10;&#10;Le contenu généré par l’IA peut être incorrect.">
            <a:extLst>
              <a:ext uri="{FF2B5EF4-FFF2-40B4-BE49-F238E27FC236}">
                <a16:creationId xmlns:a16="http://schemas.microsoft.com/office/drawing/2014/main" id="{855B3765-2D3D-DAB4-EF6B-CB78EF32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17" y="2904566"/>
            <a:ext cx="4648506" cy="3747246"/>
          </a:xfrm>
          <a:prstGeom prst="rect">
            <a:avLst/>
          </a:prstGeom>
        </p:spPr>
      </p:pic>
      <p:pic>
        <p:nvPicPr>
          <p:cNvPr id="17" name="Image 16" descr="Une image contenant texte, capture d’écran, nombre, Parallèle&#10;&#10;Le contenu généré par l’IA peut être incorrect.">
            <a:extLst>
              <a:ext uri="{FF2B5EF4-FFF2-40B4-BE49-F238E27FC236}">
                <a16:creationId xmlns:a16="http://schemas.microsoft.com/office/drawing/2014/main" id="{84AD4165-B19B-EF06-F3B2-034C684D9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389" y="1351054"/>
            <a:ext cx="6478492" cy="530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5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C33F-E3D6-1E42-8C40-453A520C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0A22758-D551-D3CB-6707-F0E92229C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Back-end et logique métier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ABCE8098-839D-5DD2-E3A4-5D7A4C2C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6" y="1650392"/>
            <a:ext cx="4468549" cy="2715420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API REST structurée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900" dirty="0"/>
              <a:t>Routes dédiées aux produits et catégories</a:t>
            </a: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900" dirty="0"/>
              <a:t>Accès aux données via Prisma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Séparation contrôleurs / base de données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72DFBB-87AB-CF7A-9466-60435D65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 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AC4C4B6-2712-2F18-36F5-443A8BCC3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448" y="1400267"/>
            <a:ext cx="6806028" cy="53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1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F955-E5F0-DFC0-F467-C319F274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D8FD881-D606-1E23-6377-B17512F69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/>
              <a:t>Sécurité et bonnes pratiques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1DA1A38E-7E9A-978C-8F26-0CDFB258F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6" y="2224133"/>
            <a:ext cx="5347090" cy="2715420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Utilisation de variables d’environnement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Validation des données côté serveur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Séparation des responsabilités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</a:t>
            </a:r>
            <a:r>
              <a:rPr lang="fr-FR" sz="1800" dirty="0"/>
              <a:t>Respect des bonnes pratiques de développement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Gestion des erreurs et des réponses HTTP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386D882-2BC1-E70A-FA16-44E5C6CE5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38F8-1929-4EC6-07F9-61B75C9A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6CC802C-BF44-EE22-994D-17EEA310F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/>
              <a:t>Qualité du code</a:t>
            </a:r>
            <a:endParaRPr lang="fr-FR" sz="4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0152A37-4AB1-F85B-B332-BF8BE63CD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5" y="2224133"/>
            <a:ext cx="7910997" cy="2715420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800" dirty="0" err="1"/>
              <a:t>ESLint</a:t>
            </a:r>
            <a:r>
              <a:rPr lang="fr-FR" sz="1800" dirty="0"/>
              <a:t> et </a:t>
            </a:r>
            <a:r>
              <a:rPr lang="fr-FR" sz="1800" dirty="0" err="1"/>
              <a:t>Prettier</a:t>
            </a:r>
            <a:r>
              <a:rPr lang="fr-FR" sz="1800" dirty="0"/>
              <a:t> configurés pour garantir un code cohérent et lisible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Structure de dossiers claire et organisée (front-end / back-end / composants)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Conventions de nommage cohérentes pour les fichiers, variables et composants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</a:t>
            </a:r>
            <a:r>
              <a:rPr lang="fr-FR" sz="1800" dirty="0"/>
              <a:t>Commentaires ciblés sur les parties complexes du code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Documentation du projet via un fichier README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33CE049-9F11-6904-F1C2-7EAB43FA1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6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204B-5FB0-019F-725C-BBC4D86E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A0065C3-D285-59A4-0C44-AD3B8D4DC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Tests et vérifications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9A99BC80-6EA0-D9CE-DB2F-68AE9F71E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5" y="2224133"/>
            <a:ext cx="8834361" cy="2751279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Tests manuels des routes API (requêtes GET)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Vérification de l’affichage dynamique des données côté front-end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Validation des scénarios fonctionnels principaux (navigation, affichage produits)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</a:t>
            </a:r>
            <a:r>
              <a:rPr lang="fr-FR" sz="2000" dirty="0"/>
              <a:t>Vérification des réponses HTTP et des cas d’erreur simples</a:t>
            </a: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7B99FE0-8A52-7BF6-68FF-0ECEA77B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86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2EEF-74D2-7D93-A899-F4D41AC2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2204F16-8F9E-CF61-BD4C-7920635BC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Difficultés rencontrées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E29AAD6D-BD64-AE04-B3CA-307052E00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5" y="2224133"/>
            <a:ext cx="8834361" cy="2078926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Gestion de la synchronisation entre front-end et back-end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Mise en place des filtres par catégories et collections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Structuration du modèle de données pour anticiper l’évolution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Gestion de l’état et du rendu conditionnel côté front-end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89555D1-99B7-CAEC-037E-3CFBB256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658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9478-7E89-5874-658B-19F1CADA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E722EF8-E1B5-1574-51F2-EB45AB3B4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/>
              <a:t>Conclusion et évolutions possibles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FB4EF90E-B20D-97C5-A6F3-45567ACF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015" y="2277921"/>
            <a:ext cx="8834361" cy="2482338"/>
          </a:xfrm>
        </p:spPr>
        <p:txBody>
          <a:bodyPr>
            <a:normAutofit fontScale="92500" lnSpcReduction="20000"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Projet conforme aux objectifs pédagogiques du titre DWWM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Architecture claire, modulaire et pensée pour l’évolutivité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900" dirty="0"/>
              <a:t>Évolutions possibles (hors périmètre du projet actuel) 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dirty="0"/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Authentification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 panier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paiement en ligne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sz="18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55A8DF7-83CB-F628-1B53-B1B705F8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0173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559</Words>
  <Application>Microsoft Office PowerPoint</Application>
  <PresentationFormat>Grand écran</PresentationFormat>
  <Paragraphs>146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Thème Office</vt:lpstr>
      <vt:lpstr>Projet HarmoniaWear Projet présenté pour le Titre Professionnel Développeur Web et Web Mobile</vt:lpstr>
      <vt:lpstr>Contexte du projet</vt:lpstr>
      <vt:lpstr>Objectifs du projet</vt:lpstr>
      <vt:lpstr>Périmètre fonctionnel</vt:lpstr>
      <vt:lpstr>Choix techniques</vt:lpstr>
      <vt:lpstr>Architecture générale</vt:lpstr>
      <vt:lpstr>Interface utilisateur</vt:lpstr>
      <vt:lpstr>Dynamique front-end</vt:lpstr>
      <vt:lpstr>Modèle de données</vt:lpstr>
      <vt:lpstr>Back-end et logique métier</vt:lpstr>
      <vt:lpstr>Sécurité et bonnes pratiques</vt:lpstr>
      <vt:lpstr>Qualité du code</vt:lpstr>
      <vt:lpstr>Tests et vérifications</vt:lpstr>
      <vt:lpstr>Difficultés rencontrées</vt:lpstr>
      <vt:lpstr>Conclusion et évolutions possibles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Abdel-Aziz Mouloud</dc:creator>
  <cp:lastModifiedBy>Abdel-Aziz Mouloud</cp:lastModifiedBy>
  <cp:revision>2</cp:revision>
  <dcterms:created xsi:type="dcterms:W3CDTF">2026-01-19T17:12:21Z</dcterms:created>
  <dcterms:modified xsi:type="dcterms:W3CDTF">2026-01-19T23:02:48Z</dcterms:modified>
</cp:coreProperties>
</file>