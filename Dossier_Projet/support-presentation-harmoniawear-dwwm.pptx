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0" r:id="rId13"/>
    <p:sldId id="267" r:id="rId14"/>
    <p:sldId id="268" r:id="rId15"/>
    <p:sldId id="269" r:id="rId1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tion par défaut" id="{76E67EC1-05CE-4B72-A768-B0203942A191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70"/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67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B1924C-4850-45BA-9A7F-172BB6B6B704}" type="datetimeFigureOut">
              <a:rPr lang="fr-FR" smtClean="0"/>
              <a:t>22/01/2026</a:t>
            </a:fld>
            <a:endParaRPr lang="fr-FR" dirty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dirty="0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989687-6337-45F6-835C-7744E0A07B93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672591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 Si question : « Oui, c’est volontaire. Le MLD a servi de base directe à l’implémentation avec PostgreSQL et Prisma. »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B97EE1-BEAB-4B22-A868-2DFA8975B858}" type="slidenum">
              <a:rPr lang="fr-FR" smtClean="0"/>
              <a:t>9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4928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E198A6-6763-D860-8BA9-33CF46B703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24476FD-585A-BC2B-B8EB-23D93CACEA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50881CD-FDD1-1AA4-3FCD-AB6B2FB11B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07216-2ECE-46D4-B570-0989022AB166}" type="datetimeFigureOut">
              <a:rPr lang="fr-FR" smtClean="0"/>
              <a:t>22/01/2026</a:t>
            </a:fld>
            <a:endParaRPr lang="fr-FR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69CE7A-3A40-55EE-1CC6-1267047D8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1928397-8345-2381-B34A-2464AB8CB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27F06-9A43-43C1-A428-BEC121D3C431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69603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2C21CB5-840F-AC89-9C0E-0FBC06BA5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B25D696-A5C4-5027-8936-1A9569AC4C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19E6E5-4919-C17D-8CA0-B3B3E0962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07216-2ECE-46D4-B570-0989022AB166}" type="datetimeFigureOut">
              <a:rPr lang="fr-FR" smtClean="0"/>
              <a:t>22/01/2026</a:t>
            </a:fld>
            <a:endParaRPr lang="fr-FR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2C5E324-95FC-62CC-77AF-4C6FC6444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ADB0B0-C140-49EF-0B34-C29B27A41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27F06-9A43-43C1-A428-BEC121D3C431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39610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E2C35F-DE83-1B81-2ACC-5F632CE84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6344604-7F00-FDA0-2D4C-1BB7BFBCE9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4FC39A5-2B87-2C6F-2A80-7AA1F9C320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07216-2ECE-46D4-B570-0989022AB166}" type="datetimeFigureOut">
              <a:rPr lang="fr-FR" smtClean="0"/>
              <a:t>22/01/2026</a:t>
            </a:fld>
            <a:endParaRPr lang="fr-FR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FF22B47-12F8-2C7E-C1A4-EE6CC71F1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6C3619D-6F39-725E-9198-ACFF3A3BA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27F06-9A43-43C1-A428-BEC121D3C431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619179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823D458-5A1C-20A2-0967-4A9E5E369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9850B6-4576-18A6-0073-C4349DC3F9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6A3785D-240E-9354-4135-65F98D30CE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14DDDA0-2CE5-5709-F6C5-5965E44C0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07216-2ECE-46D4-B570-0989022AB166}" type="datetimeFigureOut">
              <a:rPr lang="fr-FR" smtClean="0"/>
              <a:t>22/01/2026</a:t>
            </a:fld>
            <a:endParaRPr lang="fr-FR" dirty="0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C107FBE-4D20-0058-3C7B-1261A85F0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F64ECDE-8729-2358-15E7-3E04342E3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27F06-9A43-43C1-A428-BEC121D3C431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99516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D8AED34-4FDA-DCED-742B-0ECF640C2F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4E6FDFF-63EA-ED59-0285-437D99185E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A0FBC31-1CA2-0CEF-9E55-36458BCEF2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72ADF28-611C-1124-6530-0E225F0BC1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63659BC-C682-2570-5963-9345BFCF02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78124EE-C03F-91D5-10EF-76F02AE8FA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07216-2ECE-46D4-B570-0989022AB166}" type="datetimeFigureOut">
              <a:rPr lang="fr-FR" smtClean="0"/>
              <a:t>22/01/2026</a:t>
            </a:fld>
            <a:endParaRPr lang="fr-FR" dirty="0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81B3C464-CF7E-2691-2743-B9AA09342F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4134013-EA71-E37F-BF31-90F9F0BCD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27F06-9A43-43C1-A428-BEC121D3C431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366853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48B44D-2FC9-25F2-A5F2-4DDC189B4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171D370-E141-C79B-CCE3-772CE2755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07216-2ECE-46D4-B570-0989022AB166}" type="datetimeFigureOut">
              <a:rPr lang="fr-FR" smtClean="0"/>
              <a:t>22/01/2026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E81A0B9-15C8-8274-2B18-BCF35DAA48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0AABC38-F5AA-DBB4-6CB7-452E474EB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27F06-9A43-43C1-A428-BEC121D3C431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775128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5FA44537-10F3-FE82-17E8-21F37195B9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07216-2ECE-46D4-B570-0989022AB166}" type="datetimeFigureOut">
              <a:rPr lang="fr-FR" smtClean="0"/>
              <a:t>22/01/2026</a:t>
            </a:fld>
            <a:endParaRPr lang="fr-FR" dirty="0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CBCCB2E0-0131-9D87-4358-29B958206D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AD4440B-69C2-345A-576B-8A6F3EF3D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27F06-9A43-43C1-A428-BEC121D3C431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036291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534699C-8551-E837-4F11-AC23B2E95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7FE8C79-E142-07C4-E337-38F629093B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BED2C91-22B1-CE1E-47BD-4DDF3AFD9F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A5494D3-CC88-4AF5-A311-57A3DCE54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07216-2ECE-46D4-B570-0989022AB166}" type="datetimeFigureOut">
              <a:rPr lang="fr-FR" smtClean="0"/>
              <a:t>22/01/2026</a:t>
            </a:fld>
            <a:endParaRPr lang="fr-FR" dirty="0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CC07C7D-D57D-88FB-011E-7063B3190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A6500CC-209F-FA27-B93D-1CDC5B923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27F06-9A43-43C1-A428-BEC121D3C431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221972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84E0753-F812-F313-F351-82B5F8BA7A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08C7013-E70C-DAA6-0490-215C0C39E8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EDFD971-2748-80C9-28CB-4B98AC60CA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78FC3CA-19F6-3937-3B8F-637B81415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07216-2ECE-46D4-B570-0989022AB166}" type="datetimeFigureOut">
              <a:rPr lang="fr-FR" smtClean="0"/>
              <a:t>22/01/2026</a:t>
            </a:fld>
            <a:endParaRPr lang="fr-FR" dirty="0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15AB7F4-036E-3A0D-7AF9-5025BA9BAB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8C287A0-D79F-2C08-ED69-320521980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27F06-9A43-43C1-A428-BEC121D3C431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322131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B30004B-76D6-F30D-4FEE-EF8931B03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12E9238-0E30-D100-388D-13FBD0C7F3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A1A309D-DD57-4BB1-16AA-B07AAD24F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07216-2ECE-46D4-B570-0989022AB166}" type="datetimeFigureOut">
              <a:rPr lang="fr-FR" smtClean="0"/>
              <a:t>22/01/2026</a:t>
            </a:fld>
            <a:endParaRPr lang="fr-FR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9A2600E-8B8D-4E41-437D-6365FDDDD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B066D69-D349-83EC-FB7D-33F7C8298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27F06-9A43-43C1-A428-BEC121D3C431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254929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3044967-D8AD-C8EA-FE2F-D472B88A4D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6A46481-36F8-16DC-85B2-9CCF947D0D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FCC766B-82B7-881B-1DF9-19A67ABEF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07216-2ECE-46D4-B570-0989022AB166}" type="datetimeFigureOut">
              <a:rPr lang="fr-FR" smtClean="0"/>
              <a:t>22/01/2026</a:t>
            </a:fld>
            <a:endParaRPr lang="fr-FR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2CEC9A6-4817-3CE8-1B65-7997788D74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117DB60-A5F2-7681-B71A-3A50A5AD9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27F06-9A43-43C1-A428-BEC121D3C431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64347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CC3F7DC-6919-4674-8E4E-37288EE284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71AF601-D4BD-BA29-3DE2-E0E7E907BE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E8462DE-7959-0E2C-F5A7-0B825C0F2B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507216-2ECE-46D4-B570-0989022AB166}" type="datetimeFigureOut">
              <a:rPr lang="fr-FR" smtClean="0"/>
              <a:t>22/01/2026</a:t>
            </a:fld>
            <a:endParaRPr lang="fr-FR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BC53D00-C227-EBFD-4250-E7579BA462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713A4FD-6B0C-7191-08EE-0204150559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E27F06-9A43-43C1-A428-BEC121D3C431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416890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49AFE7-2966-DA98-C827-DB8E707AC44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fr-FR" sz="4000" b="1" dirty="0"/>
              <a:t>Projet HarmoniaWear</a:t>
            </a:r>
            <a:br>
              <a:rPr lang="fr-FR" sz="4000" b="1" dirty="0"/>
            </a:br>
            <a:r>
              <a:rPr lang="fr-FR" sz="4000" b="1" dirty="0"/>
              <a:t>Projet présenté pour le Titre Professionnel</a:t>
            </a:r>
            <a:br>
              <a:rPr lang="fr-FR" sz="4000" b="1" dirty="0"/>
            </a:br>
            <a:r>
              <a:rPr lang="fr-FR" sz="4000" b="1" dirty="0"/>
              <a:t>Développeur Web et Web Mobile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9AF3D61-DB3F-70A3-DDE6-779A7AA71F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83106" y="3509963"/>
            <a:ext cx="4787153" cy="1418197"/>
          </a:xfrm>
        </p:spPr>
        <p:txBody>
          <a:bodyPr/>
          <a:lstStyle/>
          <a:p>
            <a:r>
              <a:rPr lang="fr-FR" sz="2800" b="1" dirty="0"/>
              <a:t>Aziz Ayyad</a:t>
            </a:r>
          </a:p>
          <a:p>
            <a:r>
              <a:rPr lang="fr-FR" dirty="0"/>
              <a:t>Session : janvier 2025 – janvier 2026</a:t>
            </a:r>
          </a:p>
        </p:txBody>
      </p:sp>
    </p:spTree>
    <p:extLst>
      <p:ext uri="{BB962C8B-B14F-4D97-AF65-F5344CB8AC3E}">
        <p14:creationId xmlns:p14="http://schemas.microsoft.com/office/powerpoint/2010/main" val="2789843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470A8A-D85D-E2D6-0BC6-9F52C174E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6E6B43A-87CB-7550-FCF5-CBE5C14EBE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8668871" cy="625755"/>
          </a:xfrm>
        </p:spPr>
        <p:txBody>
          <a:bodyPr>
            <a:noAutofit/>
          </a:bodyPr>
          <a:lstStyle/>
          <a:p>
            <a:r>
              <a:rPr lang="fr-FR" sz="4000" b="1" dirty="0"/>
              <a:t>Contexte du projet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DC6EC541-49B2-001F-1F69-D82D8FD92A15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927847" y="2248845"/>
            <a:ext cx="10336306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Projet web de présentation de collections de vêtements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Application développée dans un cadre pédagogique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Organisation par univers (streetwear, sportswear, etc.)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Architecture orientée vers une évolution e-commerce</a:t>
            </a:r>
          </a:p>
        </p:txBody>
      </p:sp>
    </p:spTree>
    <p:extLst>
      <p:ext uri="{BB962C8B-B14F-4D97-AF65-F5344CB8AC3E}">
        <p14:creationId xmlns:p14="http://schemas.microsoft.com/office/powerpoint/2010/main" val="785127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A6B18-60C9-B145-8A5F-1A39DEAAD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BB2FFC1B-295A-9038-8C72-FEEEB2CB02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03765"/>
            <a:ext cx="9144000" cy="762281"/>
          </a:xfrm>
        </p:spPr>
        <p:txBody>
          <a:bodyPr>
            <a:normAutofit/>
          </a:bodyPr>
          <a:lstStyle/>
          <a:p>
            <a:r>
              <a:rPr lang="fr-FR" sz="4000" b="1" dirty="0"/>
              <a:t>Objectifs du projet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BE1269D7-6272-AA38-0F46-AE0C7D1B3838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1524000" y="2239881"/>
            <a:ext cx="7691718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Afficher des collections de produits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Permettre une navigation par catégories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Séparer clairement le front-end et le back-end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Mettre en place une base technique évolutive</a:t>
            </a:r>
          </a:p>
        </p:txBody>
      </p:sp>
    </p:spTree>
    <p:extLst>
      <p:ext uri="{BB962C8B-B14F-4D97-AF65-F5344CB8AC3E}">
        <p14:creationId xmlns:p14="http://schemas.microsoft.com/office/powerpoint/2010/main" val="40274135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7DD56-852F-D217-875F-D04A795B0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B5447414-CEF5-CFF0-F2CB-465CE5EB30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03765"/>
            <a:ext cx="9144000" cy="762281"/>
          </a:xfrm>
        </p:spPr>
        <p:txBody>
          <a:bodyPr>
            <a:normAutofit/>
          </a:bodyPr>
          <a:lstStyle/>
          <a:p>
            <a:r>
              <a:rPr lang="fr-FR" sz="4000" b="1" dirty="0"/>
              <a:t>Périmètre fonctionnel</a:t>
            </a:r>
          </a:p>
        </p:txBody>
      </p:sp>
      <p:sp>
        <p:nvSpPr>
          <p:cNvPr id="7" name="Sous-titre 6">
            <a:extLst>
              <a:ext uri="{FF2B5EF4-FFF2-40B4-BE49-F238E27FC236}">
                <a16:creationId xmlns:a16="http://schemas.microsoft.com/office/drawing/2014/main" id="{D29C0EFD-88BE-2A71-52B5-FBFB9F0AEA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86753" y="2140790"/>
            <a:ext cx="9144000" cy="3903394"/>
          </a:xfrm>
        </p:spPr>
        <p:txBody>
          <a:bodyPr>
            <a:normAutofit fontScale="25000" lnSpcReduction="20000"/>
          </a:bodyPr>
          <a:lstStyle/>
          <a:p>
            <a:pPr algn="l"/>
            <a:r>
              <a:rPr lang="fr-FR" sz="7200" b="1" dirty="0"/>
              <a:t>Inclus dans le projet :</a:t>
            </a:r>
          </a:p>
          <a:p>
            <a:pPr algn="l"/>
            <a:endParaRPr lang="fr-FR" sz="7200" b="1" dirty="0"/>
          </a:p>
          <a:p>
            <a:pPr lvl="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fr-FR" altLang="fr-FR" sz="7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Interface utilisateur dynamique</a:t>
            </a:r>
          </a:p>
          <a:p>
            <a:pPr lvl="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kumimoji="0" lang="fr-FR" altLang="fr-FR" sz="7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fr-FR" altLang="fr-FR" sz="7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API back-end</a:t>
            </a:r>
          </a:p>
          <a:p>
            <a:pPr lvl="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kumimoji="0" lang="fr-FR" altLang="fr-FR" sz="7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fr-FR" altLang="fr-FR" sz="7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Base de données relationnelle</a:t>
            </a:r>
          </a:p>
          <a:p>
            <a:pPr lvl="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sz="7200" dirty="0"/>
          </a:p>
          <a:p>
            <a:pPr lvl="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fr-FR" sz="7200" b="1" dirty="0"/>
              <a:t>Hors périmètre :</a:t>
            </a:r>
            <a:r>
              <a:rPr kumimoji="0" lang="fr-FR" altLang="fr-FR" sz="7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lvl="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fr-FR" altLang="fr-FR" sz="7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sz="7200" dirty="0"/>
              <a:t> Paiement en ligne</a:t>
            </a:r>
          </a:p>
          <a:p>
            <a:pPr lvl="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sz="7200" dirty="0"/>
          </a:p>
          <a:p>
            <a:pPr lvl="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fr-FR" altLang="fr-FR" sz="7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7200" dirty="0"/>
              <a:t>Gestion des commandes</a:t>
            </a:r>
          </a:p>
          <a:p>
            <a:pPr lvl="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sz="7200" dirty="0"/>
          </a:p>
          <a:p>
            <a:pPr lvl="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fr-FR" altLang="fr-FR" sz="7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7200" dirty="0"/>
              <a:t>Authentification utilisateur avancée</a:t>
            </a:r>
          </a:p>
          <a:p>
            <a:pPr lvl="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fr-FR" sz="7200" b="1" dirty="0"/>
          </a:p>
          <a:p>
            <a:pPr lvl="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fr-FR" sz="7200" b="1" dirty="0"/>
              <a:t>P.S. </a:t>
            </a:r>
            <a:r>
              <a:rPr lang="fr-FR" sz="7200" dirty="0"/>
              <a:t>Authentification JWT : </a:t>
            </a:r>
            <a:r>
              <a:rPr lang="fr-FR" sz="7200" b="1" dirty="0"/>
              <a:t>Opérationnelle en Back-end</a:t>
            </a:r>
            <a:r>
              <a:rPr lang="fr-FR" sz="7200" dirty="0"/>
              <a:t> (pour démonstration technique).</a:t>
            </a:r>
            <a:endParaRPr lang="fr-FR" sz="7200" b="1" dirty="0"/>
          </a:p>
          <a:p>
            <a:endParaRPr lang="fr-FR" sz="7200" dirty="0"/>
          </a:p>
          <a:p>
            <a:endParaRPr lang="fr-FR" dirty="0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93694DDC-949D-EA63-5E2B-DE7E9C0C44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88089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C73AC-C15E-51C6-EEC2-083A1E373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4D8AFE62-46AB-6DF6-F5D5-034D7801CE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03765"/>
            <a:ext cx="9144000" cy="762281"/>
          </a:xfrm>
        </p:spPr>
        <p:txBody>
          <a:bodyPr>
            <a:normAutofit/>
          </a:bodyPr>
          <a:lstStyle/>
          <a:p>
            <a:r>
              <a:rPr lang="fr-FR" sz="4000" b="1" dirty="0"/>
              <a:t>Choix techniques</a:t>
            </a:r>
          </a:p>
        </p:txBody>
      </p:sp>
      <p:sp>
        <p:nvSpPr>
          <p:cNvPr id="7" name="Sous-titre 6">
            <a:extLst>
              <a:ext uri="{FF2B5EF4-FFF2-40B4-BE49-F238E27FC236}">
                <a16:creationId xmlns:a16="http://schemas.microsoft.com/office/drawing/2014/main" id="{5B3474EE-A9F5-AE51-0B1B-9DCF335F17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86753" y="2140790"/>
            <a:ext cx="9144000" cy="2368457"/>
          </a:xfrm>
        </p:spPr>
        <p:txBody>
          <a:bodyPr>
            <a:normAutofit fontScale="92500" lnSpcReduction="10000"/>
          </a:bodyPr>
          <a:lstStyle/>
          <a:p>
            <a:pPr lvl="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altLang="fr-FR" dirty="0">
                <a:latin typeface="Arial" panose="020B0604020202020204" pitchFamily="34" charset="0"/>
              </a:rPr>
              <a:t> </a:t>
            </a:r>
            <a:r>
              <a:rPr lang="fr-FR" b="1" dirty="0"/>
              <a:t>Front-end</a:t>
            </a:r>
            <a:r>
              <a:rPr lang="fr-FR" dirty="0"/>
              <a:t> : React (Vite)</a:t>
            </a:r>
          </a:p>
          <a:p>
            <a:pPr lvl="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altLang="fr-FR" dirty="0">
              <a:latin typeface="Arial" panose="020B0604020202020204" pitchFamily="34" charset="0"/>
            </a:endParaRPr>
          </a:p>
          <a:p>
            <a:pPr lvl="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altLang="fr-FR" dirty="0">
                <a:latin typeface="Arial" panose="020B0604020202020204" pitchFamily="34" charset="0"/>
              </a:rPr>
              <a:t> </a:t>
            </a:r>
            <a:r>
              <a:rPr lang="fr-FR" b="1" dirty="0"/>
              <a:t>Back-end</a:t>
            </a:r>
            <a:r>
              <a:rPr lang="fr-FR" dirty="0"/>
              <a:t> : Node.js / Express</a:t>
            </a:r>
            <a:endParaRPr lang="fr-FR" altLang="fr-FR" dirty="0">
              <a:latin typeface="Arial" panose="020B0604020202020204" pitchFamily="34" charset="0"/>
            </a:endParaRPr>
          </a:p>
          <a:p>
            <a:pPr lvl="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altLang="fr-FR" dirty="0">
              <a:latin typeface="Arial" panose="020B0604020202020204" pitchFamily="34" charset="0"/>
            </a:endParaRPr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altLang="fr-FR" dirty="0">
                <a:latin typeface="Arial" panose="020B0604020202020204" pitchFamily="34" charset="0"/>
              </a:rPr>
              <a:t> </a:t>
            </a:r>
            <a:r>
              <a:rPr lang="fr-FR" b="1" dirty="0"/>
              <a:t>Base de données</a:t>
            </a:r>
            <a:r>
              <a:rPr lang="fr-FR" dirty="0"/>
              <a:t> : PostgreSQL</a:t>
            </a:r>
            <a:endParaRPr lang="fr-FR" altLang="fr-FR" dirty="0">
              <a:latin typeface="Arial" panose="020B0604020202020204" pitchFamily="34" charset="0"/>
            </a:endParaRPr>
          </a:p>
          <a:p>
            <a:pPr lvl="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altLang="fr-FR" dirty="0">
              <a:latin typeface="Arial" panose="020B0604020202020204" pitchFamily="34" charset="0"/>
            </a:endParaRPr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altLang="fr-FR" dirty="0">
                <a:latin typeface="Arial" panose="020B0604020202020204" pitchFamily="34" charset="0"/>
              </a:rPr>
              <a:t> </a:t>
            </a:r>
            <a:r>
              <a:rPr lang="fr-FR" b="1" dirty="0"/>
              <a:t>ORM</a:t>
            </a:r>
            <a:r>
              <a:rPr lang="fr-FR" dirty="0"/>
              <a:t> : Prisma</a:t>
            </a:r>
          </a:p>
          <a:p>
            <a:pPr lvl="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altLang="fr-FR" dirty="0">
              <a:latin typeface="Arial" panose="020B0604020202020204" pitchFamily="34" charset="0"/>
            </a:endParaRPr>
          </a:p>
          <a:p>
            <a:endParaRPr lang="fr-FR" sz="7200" dirty="0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E1896B60-19D9-2AB8-C4E0-29B32F95FA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91555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B81D4-E607-89DE-D5F1-794646628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22C471B6-AAD8-7740-15EB-7B81110D6F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03765"/>
            <a:ext cx="9144000" cy="762281"/>
          </a:xfrm>
        </p:spPr>
        <p:txBody>
          <a:bodyPr>
            <a:normAutofit/>
          </a:bodyPr>
          <a:lstStyle/>
          <a:p>
            <a:r>
              <a:rPr lang="fr-FR" sz="4000" b="1" dirty="0"/>
              <a:t>Architecture générale</a:t>
            </a:r>
          </a:p>
        </p:txBody>
      </p:sp>
      <p:sp>
        <p:nvSpPr>
          <p:cNvPr id="7" name="Sous-titre 6">
            <a:extLst>
              <a:ext uri="{FF2B5EF4-FFF2-40B4-BE49-F238E27FC236}">
                <a16:creationId xmlns:a16="http://schemas.microsoft.com/office/drawing/2014/main" id="{A343144F-511B-400C-9C9D-33C1238CE8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86753" y="1953418"/>
            <a:ext cx="9144000" cy="2197241"/>
          </a:xfrm>
        </p:spPr>
        <p:txBody>
          <a:bodyPr>
            <a:normAutofit/>
          </a:bodyPr>
          <a:lstStyle/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sz="1800" dirty="0"/>
              <a:t> Application web en architecture client / serveur</a:t>
            </a:r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altLang="fr-FR" sz="1800" dirty="0">
              <a:latin typeface="Arial" panose="020B0604020202020204" pitchFamily="34" charset="0"/>
            </a:endParaRPr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sz="1800" dirty="0"/>
              <a:t> Le front-end consomme une API REST</a:t>
            </a:r>
            <a:endParaRPr lang="fr-FR" sz="1800" dirty="0">
              <a:latin typeface="Arial" panose="020B0604020202020204" pitchFamily="34" charset="0"/>
            </a:endParaRPr>
          </a:p>
          <a:p>
            <a:pPr lvl="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sz="1800" dirty="0"/>
          </a:p>
          <a:p>
            <a:pPr lvl="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sz="1800" dirty="0"/>
              <a:t> Le back-end centralise la logique métier</a:t>
            </a:r>
          </a:p>
          <a:p>
            <a:pPr lvl="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sz="1800" dirty="0"/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altLang="fr-FR" sz="1800" dirty="0">
                <a:latin typeface="Arial" panose="020B0604020202020204" pitchFamily="34" charset="0"/>
              </a:rPr>
              <a:t> </a:t>
            </a:r>
            <a:r>
              <a:rPr lang="fr-FR" sz="1800" dirty="0"/>
              <a:t>La base de données stocke les informations produites</a:t>
            </a:r>
          </a:p>
          <a:p>
            <a:pPr lvl="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altLang="fr-FR" dirty="0">
              <a:latin typeface="Arial" panose="020B0604020202020204" pitchFamily="34" charset="0"/>
            </a:endParaRPr>
          </a:p>
          <a:p>
            <a:endParaRPr lang="fr-FR" sz="7200" dirty="0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FB882495-C038-6CF0-7693-FE95D26A7B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1E478DC-2600-C998-6875-6189F0EBAD5B}"/>
              </a:ext>
            </a:extLst>
          </p:cNvPr>
          <p:cNvSpPr txBox="1"/>
          <p:nvPr/>
        </p:nvSpPr>
        <p:spPr>
          <a:xfrm>
            <a:off x="2581835" y="4150658"/>
            <a:ext cx="445545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dirty="0"/>
              <a:t>Utilisateur (Navigateur)</a:t>
            </a:r>
          </a:p>
          <a:p>
            <a:r>
              <a:rPr lang="fr-FR" sz="2000" dirty="0"/>
              <a:t>          ↓</a:t>
            </a:r>
          </a:p>
          <a:p>
            <a:r>
              <a:rPr lang="fr-FR" sz="2000" dirty="0"/>
              <a:t>     Front-end (React + Vite)</a:t>
            </a:r>
          </a:p>
          <a:p>
            <a:r>
              <a:rPr lang="fr-FR" sz="2000" dirty="0"/>
              <a:t>          ↓  API REST</a:t>
            </a:r>
          </a:p>
          <a:p>
            <a:r>
              <a:rPr lang="fr-FR" sz="2000" dirty="0"/>
              <a:t>   Back-end (Node.js / Express)</a:t>
            </a:r>
          </a:p>
          <a:p>
            <a:r>
              <a:rPr lang="fr-FR" sz="2000" dirty="0"/>
              <a:t>          ↓</a:t>
            </a:r>
          </a:p>
          <a:p>
            <a:r>
              <a:rPr lang="fr-FR" sz="2000" dirty="0"/>
              <a:t> Base de données (PostgreSQL)</a:t>
            </a:r>
          </a:p>
        </p:txBody>
      </p:sp>
    </p:spTree>
    <p:extLst>
      <p:ext uri="{BB962C8B-B14F-4D97-AF65-F5344CB8AC3E}">
        <p14:creationId xmlns:p14="http://schemas.microsoft.com/office/powerpoint/2010/main" val="29459118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9144F-F3ED-D390-D601-BD25CE073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4FC3BD76-44CD-011D-C9F7-B21FF9DDC4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03765"/>
            <a:ext cx="9144000" cy="762281"/>
          </a:xfrm>
        </p:spPr>
        <p:txBody>
          <a:bodyPr>
            <a:normAutofit/>
          </a:bodyPr>
          <a:lstStyle/>
          <a:p>
            <a:r>
              <a:rPr lang="fr-FR" sz="4000" b="1" dirty="0"/>
              <a:t>Interface utilisateur</a:t>
            </a:r>
          </a:p>
        </p:txBody>
      </p:sp>
      <p:sp>
        <p:nvSpPr>
          <p:cNvPr id="7" name="Sous-titre 6">
            <a:extLst>
              <a:ext uri="{FF2B5EF4-FFF2-40B4-BE49-F238E27FC236}">
                <a16:creationId xmlns:a16="http://schemas.microsoft.com/office/drawing/2014/main" id="{B03EBA32-E0DC-80FB-4077-E058B8137E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3648" y="1814908"/>
            <a:ext cx="5423647" cy="2197241"/>
          </a:xfrm>
        </p:spPr>
        <p:txBody>
          <a:bodyPr>
            <a:normAutofit/>
          </a:bodyPr>
          <a:lstStyle/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sz="1800" dirty="0"/>
              <a:t> Interface responsive</a:t>
            </a:r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altLang="fr-FR" sz="1800" dirty="0">
              <a:latin typeface="Arial" panose="020B0604020202020204" pitchFamily="34" charset="0"/>
            </a:endParaRPr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sz="1800" dirty="0"/>
              <a:t>Navigation claire par catégories</a:t>
            </a:r>
          </a:p>
          <a:p>
            <a:pPr lvl="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sz="1800" dirty="0"/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sz="1800" dirty="0"/>
              <a:t> Pages dédiées aux univers (streetwear, sportswear…)</a:t>
            </a:r>
          </a:p>
          <a:p>
            <a:pPr lvl="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sz="1800" dirty="0"/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altLang="fr-FR" sz="1800" dirty="0">
                <a:latin typeface="Arial" panose="020B0604020202020204" pitchFamily="34" charset="0"/>
              </a:rPr>
              <a:t> </a:t>
            </a:r>
            <a:r>
              <a:rPr lang="fr-FR" sz="1800" dirty="0"/>
              <a:t>Mise en valeur des produits</a:t>
            </a:r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altLang="fr-FR" dirty="0">
              <a:latin typeface="Arial" panose="020B0604020202020204" pitchFamily="34" charset="0"/>
            </a:endParaRPr>
          </a:p>
          <a:p>
            <a:endParaRPr lang="fr-FR" sz="7200" dirty="0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4B7CA684-65A9-028B-F57D-A7176E4D0E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A544DF2-7B94-59E3-F050-9B360221B6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6942" y="1814908"/>
            <a:ext cx="4562166" cy="4881727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AE76F41B-81F5-B4D0-9815-8F58DF9CB5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6731" y="4061012"/>
            <a:ext cx="3998259" cy="2558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8801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D57B9-655E-90D9-9D59-15217A6BD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180614D3-DDF2-A5FA-DA4E-E008EA1325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52936"/>
            <a:ext cx="9144000" cy="762281"/>
          </a:xfrm>
        </p:spPr>
        <p:txBody>
          <a:bodyPr>
            <a:norm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40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Dynamique front-end</a:t>
            </a:r>
            <a:endParaRPr lang="fr-FR" sz="40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Sous-titre 6">
            <a:extLst>
              <a:ext uri="{FF2B5EF4-FFF2-40B4-BE49-F238E27FC236}">
                <a16:creationId xmlns:a16="http://schemas.microsoft.com/office/drawing/2014/main" id="{32FBEA38-1A19-DB6A-4B61-E9CA3ECE22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8627" y="1766045"/>
            <a:ext cx="4655176" cy="2266898"/>
          </a:xfrm>
        </p:spPr>
        <p:txBody>
          <a:bodyPr>
            <a:normAutofit/>
          </a:bodyPr>
          <a:lstStyle/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Récupération des données via appels API</a:t>
            </a:r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Affichage dynamique des produits</a:t>
            </a:r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sz="1800" dirty="0"/>
              <a:t> Composants réutilisables</a:t>
            </a:r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sz="1800" dirty="0"/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altLang="fr-FR" sz="1800" dirty="0">
                <a:latin typeface="Arial" panose="020B0604020202020204" pitchFamily="34" charset="0"/>
              </a:rPr>
              <a:t> </a:t>
            </a:r>
            <a:r>
              <a:rPr lang="fr-FR" sz="1800" dirty="0"/>
              <a:t>Séparation logique entre données et affichage</a:t>
            </a:r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sz="1800" dirty="0"/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altLang="fr-FR" dirty="0">
              <a:latin typeface="Arial" panose="020B0604020202020204" pitchFamily="34" charset="0"/>
            </a:endParaRPr>
          </a:p>
          <a:p>
            <a:endParaRPr lang="fr-FR" sz="7200" dirty="0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84741DE7-FD56-AE05-481D-4912BDE4FC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Image 3" descr="Une image contenant texte, capture d’écran, arbre, plein air">
            <a:extLst>
              <a:ext uri="{FF2B5EF4-FFF2-40B4-BE49-F238E27FC236}">
                <a16:creationId xmlns:a16="http://schemas.microsoft.com/office/drawing/2014/main" id="{86D9240F-8A49-C1A0-1FE6-FEE0D1BE6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0413" y="1615218"/>
            <a:ext cx="6532776" cy="5087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3895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F89BD-2944-E73E-919E-8E3F42012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F8DF320E-C073-9E17-4B4A-00C21CC8C0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88773"/>
            <a:ext cx="9144000" cy="762281"/>
          </a:xfrm>
        </p:spPr>
        <p:txBody>
          <a:bodyPr>
            <a:norm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40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Modèle de données</a:t>
            </a:r>
            <a:endParaRPr lang="fr-FR" sz="40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Sous-titre 6">
            <a:extLst>
              <a:ext uri="{FF2B5EF4-FFF2-40B4-BE49-F238E27FC236}">
                <a16:creationId xmlns:a16="http://schemas.microsoft.com/office/drawing/2014/main" id="{689492DA-8BF0-F3E5-3F78-B1717A84D6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943" y="1400266"/>
            <a:ext cx="4655176" cy="1666261"/>
          </a:xfrm>
        </p:spPr>
        <p:txBody>
          <a:bodyPr>
            <a:normAutofit/>
          </a:bodyPr>
          <a:lstStyle/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sz="1800" dirty="0"/>
              <a:t> Modélisation de la base de données</a:t>
            </a:r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sz="1800" dirty="0"/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sz="1800" dirty="0"/>
              <a:t>Relations entre produits et catégories</a:t>
            </a:r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sz="1800" dirty="0"/>
              <a:t> Structure pensée pour l’évolution du projet</a:t>
            </a:r>
            <a:endParaRPr lang="fr-FR" altLang="fr-FR" dirty="0">
              <a:latin typeface="Arial" panose="020B0604020202020204" pitchFamily="34" charset="0"/>
            </a:endParaRPr>
          </a:p>
          <a:p>
            <a:endParaRPr lang="fr-FR" sz="7200" dirty="0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5F3BFDEE-47EE-C955-0DB8-556CA0B0BA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1" name="Image 10" descr="Une image contenant texte, capture d’écran, document, Police&#10;&#10;Le contenu généré par l’IA peut être incorrect.">
            <a:extLst>
              <a:ext uri="{FF2B5EF4-FFF2-40B4-BE49-F238E27FC236}">
                <a16:creationId xmlns:a16="http://schemas.microsoft.com/office/drawing/2014/main" id="{855B3765-2D3D-DAB4-EF6B-CB78EF3224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817" y="2904566"/>
            <a:ext cx="4648506" cy="3747246"/>
          </a:xfrm>
          <a:prstGeom prst="rect">
            <a:avLst/>
          </a:prstGeom>
        </p:spPr>
      </p:pic>
      <p:pic>
        <p:nvPicPr>
          <p:cNvPr id="17" name="Image 16" descr="Une image contenant texte, capture d’écran, nombre, Parallèle&#10;&#10;Le contenu généré par l’IA peut être incorrect.">
            <a:extLst>
              <a:ext uri="{FF2B5EF4-FFF2-40B4-BE49-F238E27FC236}">
                <a16:creationId xmlns:a16="http://schemas.microsoft.com/office/drawing/2014/main" id="{84AD4165-B19B-EF06-F3B2-034C684D98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5389" y="1351054"/>
            <a:ext cx="6478492" cy="5300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47576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5C33F-E3D6-1E42-8C40-453A520C9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C0A22758-D551-D3CB-6707-F0E92229C3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88773"/>
            <a:ext cx="9144000" cy="762281"/>
          </a:xfrm>
        </p:spPr>
        <p:txBody>
          <a:bodyPr>
            <a:norm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40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Back-end et logique métier</a:t>
            </a:r>
            <a:endParaRPr lang="fr-FR" sz="40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Sous-titre 6">
            <a:extLst>
              <a:ext uri="{FF2B5EF4-FFF2-40B4-BE49-F238E27FC236}">
                <a16:creationId xmlns:a16="http://schemas.microsoft.com/office/drawing/2014/main" id="{ABCE8098-839D-5DD2-E3A4-5D7A4C2CE0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4816" y="1650392"/>
            <a:ext cx="4468549" cy="2715420"/>
          </a:xfrm>
        </p:spPr>
        <p:txBody>
          <a:bodyPr>
            <a:normAutofit/>
          </a:bodyPr>
          <a:lstStyle/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sz="1800" dirty="0"/>
              <a:t> API REST structurée</a:t>
            </a:r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sz="1800" dirty="0"/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sz="1800" dirty="0"/>
              <a:t> </a:t>
            </a:r>
            <a:r>
              <a:rPr lang="fr-FR" sz="1900" dirty="0"/>
              <a:t>Routes dédiées aux produits et catégories</a:t>
            </a:r>
            <a:endParaRPr lang="fr-FR" sz="1800" dirty="0"/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sz="1800" dirty="0"/>
              <a:t> </a:t>
            </a:r>
            <a:r>
              <a:rPr lang="fr-FR" sz="1900" dirty="0"/>
              <a:t>Accès aux données via Prisma</a:t>
            </a:r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sz="1900" dirty="0"/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sz="1900" dirty="0"/>
              <a:t> Séparation contrôleurs / base de données</a:t>
            </a:r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sz="1900" dirty="0"/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sz="1900" dirty="0"/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sz="1900" dirty="0"/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sz="7200" dirty="0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0B72DFBB-87AB-CF7A-9466-60435D6563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" name="Image 1" descr="Une image contenant texte, capture d’écran, nombre, Police&#10;&#10;Le contenu généré par l’IA peut être incorrect.">
            <a:extLst>
              <a:ext uri="{FF2B5EF4-FFF2-40B4-BE49-F238E27FC236}">
                <a16:creationId xmlns:a16="http://schemas.microsoft.com/office/drawing/2014/main" id="{3AC4C4B6-2712-2F18-36F5-443A8BCC3A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6448" y="1400267"/>
            <a:ext cx="6806028" cy="5368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69130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0F955-E5F0-DFC0-F467-C319F2741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2D8FD881-D606-1E23-6377-B17512F694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88773"/>
            <a:ext cx="9144000" cy="762281"/>
          </a:xfrm>
        </p:spPr>
        <p:txBody>
          <a:bodyPr>
            <a:norm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fr-FR" sz="4000" b="1" dirty="0"/>
              <a:t>Sécurité et bonnes pratiques</a:t>
            </a:r>
            <a:endParaRPr lang="fr-FR" sz="40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Sous-titre 6">
            <a:extLst>
              <a:ext uri="{FF2B5EF4-FFF2-40B4-BE49-F238E27FC236}">
                <a16:creationId xmlns:a16="http://schemas.microsoft.com/office/drawing/2014/main" id="{1DA1A38E-7E9A-978C-8F26-0CDFB258FE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4816" y="2224133"/>
            <a:ext cx="5347090" cy="2715420"/>
          </a:xfrm>
        </p:spPr>
        <p:txBody>
          <a:bodyPr>
            <a:normAutofit/>
          </a:bodyPr>
          <a:lstStyle/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sz="1800" dirty="0"/>
              <a:t> Utilisation de variables d’environnement</a:t>
            </a:r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sz="1800" dirty="0"/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sz="1800" dirty="0"/>
              <a:t> Validation des données côté serveur</a:t>
            </a:r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sz="1800" dirty="0"/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sz="1800" dirty="0"/>
              <a:t>Séparation des responsabilités</a:t>
            </a:r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sz="1900" dirty="0"/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sz="1900" dirty="0"/>
              <a:t> </a:t>
            </a:r>
            <a:r>
              <a:rPr lang="fr-FR" sz="1800" dirty="0"/>
              <a:t>Respect des bonnes pratiques de développement</a:t>
            </a:r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sz="1800" dirty="0"/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sz="1800" dirty="0"/>
              <a:t> Gestion des erreurs et des réponses HTTP</a:t>
            </a:r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sz="1900" dirty="0"/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sz="1900" dirty="0"/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sz="1900" dirty="0"/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sz="7200" dirty="0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7386D882-2BC1-E70A-FA16-44E5C6CE55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6401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438F8-1929-4EC6-07F9-61B75C9AC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66CC802C-BF44-EE22-994D-17EEA310F8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88773"/>
            <a:ext cx="9144000" cy="762281"/>
          </a:xfrm>
        </p:spPr>
        <p:txBody>
          <a:bodyPr>
            <a:norm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fr-FR" sz="4000" b="1" dirty="0"/>
              <a:t>Qualité du code</a:t>
            </a:r>
            <a:endParaRPr lang="fr-FR" sz="4000" b="1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Sous-titre 6">
            <a:extLst>
              <a:ext uri="{FF2B5EF4-FFF2-40B4-BE49-F238E27FC236}">
                <a16:creationId xmlns:a16="http://schemas.microsoft.com/office/drawing/2014/main" id="{60152A37-4AB1-F85B-B332-BF8BE63CD2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4815" y="2224133"/>
            <a:ext cx="7910997" cy="2715420"/>
          </a:xfrm>
        </p:spPr>
        <p:txBody>
          <a:bodyPr>
            <a:normAutofit/>
          </a:bodyPr>
          <a:lstStyle/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sz="1800" dirty="0"/>
              <a:t> ESLint et Prettier configurés pour garantir un code cohérent et lisible</a:t>
            </a:r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sz="1800" dirty="0"/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sz="1800" dirty="0"/>
              <a:t> Structure de dossiers claire et organisée (front-end / back-end / composants)</a:t>
            </a:r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sz="1800" dirty="0"/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sz="1800" dirty="0"/>
              <a:t> Conventions de nommage cohérentes pour les fichiers, variables et composants</a:t>
            </a:r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sz="1800" dirty="0"/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sz="1900" dirty="0"/>
              <a:t> </a:t>
            </a:r>
            <a:r>
              <a:rPr lang="fr-FR" sz="1800" dirty="0"/>
              <a:t>Commentaires ciblés sur les parties complexes du code</a:t>
            </a:r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sz="1800" dirty="0"/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sz="1800" dirty="0"/>
              <a:t> Documentation du projet via un fichier README</a:t>
            </a:r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sz="1900" dirty="0"/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sz="1900" dirty="0"/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sz="7200" dirty="0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F33CE049-9F11-6904-F1C2-7EAB43FA14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88666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9204B-5FB0-019F-725C-BBC4D86E8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1A0065C3-D285-59A4-0C44-AD3B8D4DC2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88773"/>
            <a:ext cx="9144000" cy="762281"/>
          </a:xfrm>
        </p:spPr>
        <p:txBody>
          <a:bodyPr>
            <a:norm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fr-FR" sz="40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Tests et vérifications</a:t>
            </a:r>
            <a:endParaRPr lang="fr-FR" sz="40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Sous-titre 6">
            <a:extLst>
              <a:ext uri="{FF2B5EF4-FFF2-40B4-BE49-F238E27FC236}">
                <a16:creationId xmlns:a16="http://schemas.microsoft.com/office/drawing/2014/main" id="{9A99BC80-6EA0-D9CE-DB2F-68AE9F71E0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4815" y="2224133"/>
            <a:ext cx="8834361" cy="2751279"/>
          </a:xfrm>
        </p:spPr>
        <p:txBody>
          <a:bodyPr>
            <a:normAutofit/>
          </a:bodyPr>
          <a:lstStyle/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sz="1800" dirty="0"/>
              <a:t>Tests manuels des routes API (requêtes GET)</a:t>
            </a:r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sz="1800" dirty="0"/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sz="1800" dirty="0"/>
              <a:t> Vérification de l’affichage dynamique des données côté front-end</a:t>
            </a:r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sz="1800" dirty="0"/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sz="1800" dirty="0"/>
              <a:t> Validation des scénarios fonctionnels principaux (navigation, affichage produits)</a:t>
            </a:r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sz="1800" dirty="0"/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sz="1900" dirty="0"/>
              <a:t> </a:t>
            </a:r>
            <a:r>
              <a:rPr lang="fr-FR" sz="2000" dirty="0"/>
              <a:t>Vérification des réponses HTTP et des cas d’erreur simples</a:t>
            </a:r>
            <a:endParaRPr lang="fr-FR" sz="1900" dirty="0"/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sz="1900" dirty="0"/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sz="7200" dirty="0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57B99FE0-8A52-7BF6-68FF-0ECEA77B7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53864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62EEF-74D2-7D93-A899-F4D41AC25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52204F16-8F9E-CF61-BD4C-7920635BC2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88773"/>
            <a:ext cx="9144000" cy="762281"/>
          </a:xfrm>
        </p:spPr>
        <p:txBody>
          <a:bodyPr>
            <a:norm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40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Difficultés rencontrées</a:t>
            </a:r>
            <a:endParaRPr lang="fr-FR" sz="40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Sous-titre 6">
            <a:extLst>
              <a:ext uri="{FF2B5EF4-FFF2-40B4-BE49-F238E27FC236}">
                <a16:creationId xmlns:a16="http://schemas.microsoft.com/office/drawing/2014/main" id="{E29AAD6D-BD64-AE04-B3CA-307052E007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4815" y="2224133"/>
            <a:ext cx="8834361" cy="2078926"/>
          </a:xfrm>
        </p:spPr>
        <p:txBody>
          <a:bodyPr>
            <a:normAutofit/>
          </a:bodyPr>
          <a:lstStyle/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sz="1800" dirty="0"/>
              <a:t> Gestion de la synchronisation entre front-end et back-end</a:t>
            </a:r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sz="1800" dirty="0"/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sz="1800" dirty="0"/>
              <a:t> Mise en place des filtres par catégories et collections</a:t>
            </a:r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sz="1800" dirty="0"/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sz="1800" dirty="0"/>
              <a:t> Structuration du modèle de données pour anticiper l’évolution</a:t>
            </a:r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sz="1800" dirty="0"/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sz="1800" dirty="0"/>
              <a:t> Gestion de l’état et du rendu conditionnel côté front-end</a:t>
            </a: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D89555D1-99B7-CAEC-037E-3CFBB25641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66580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09478-7E89-5874-658B-19F1CADA6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2E722EF8-E1B5-1574-51F2-EB45AB3B42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88773"/>
            <a:ext cx="9144000" cy="762281"/>
          </a:xfrm>
        </p:spPr>
        <p:txBody>
          <a:bodyPr>
            <a:norm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fr-FR" sz="4000" b="1" dirty="0"/>
              <a:t>Conclusion et évolutions possibles</a:t>
            </a:r>
            <a:endParaRPr lang="fr-FR" sz="40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Sous-titre 6">
            <a:extLst>
              <a:ext uri="{FF2B5EF4-FFF2-40B4-BE49-F238E27FC236}">
                <a16:creationId xmlns:a16="http://schemas.microsoft.com/office/drawing/2014/main" id="{FB4EF90E-B20D-97C5-A6F3-45567ACF7F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2015" y="2277921"/>
            <a:ext cx="8834361" cy="2482338"/>
          </a:xfrm>
        </p:spPr>
        <p:txBody>
          <a:bodyPr>
            <a:normAutofit fontScale="92500" lnSpcReduction="20000"/>
          </a:bodyPr>
          <a:lstStyle/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sz="1800" dirty="0"/>
              <a:t> Projet conforme aux objectifs pédagogiques du titre DWWM</a:t>
            </a:r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sz="1800" dirty="0"/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sz="1800" dirty="0"/>
              <a:t> Architecture claire, modulaire et pensée pour l’évolutivité</a:t>
            </a:r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sz="1800" dirty="0"/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sz="1800" dirty="0"/>
              <a:t> </a:t>
            </a:r>
            <a:r>
              <a:rPr lang="fr-FR" sz="1900" dirty="0"/>
              <a:t>Évolutions possibles (hors périmètre du projet actuel) :</a:t>
            </a:r>
          </a:p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fr-FR" dirty="0"/>
          </a:p>
          <a:p>
            <a:pPr marL="742950" lvl="1" indent="-28575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fr-FR" sz="1600" dirty="0"/>
              <a:t>Authentification</a:t>
            </a:r>
          </a:p>
          <a:p>
            <a:pPr marL="742950" lvl="1" indent="-28575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endParaRPr lang="fr-FR" sz="1600" dirty="0"/>
          </a:p>
          <a:p>
            <a:pPr marL="742950" lvl="1" indent="-28575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fr-FR" sz="1600" dirty="0"/>
              <a:t> panier</a:t>
            </a:r>
          </a:p>
          <a:p>
            <a:pPr marL="742950" lvl="1" indent="-28575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endParaRPr lang="fr-FR" sz="1600" dirty="0"/>
          </a:p>
          <a:p>
            <a:pPr marL="742950" lvl="1" indent="-28575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fr-FR" sz="1600" dirty="0"/>
              <a:t>paiement en ligne</a:t>
            </a:r>
          </a:p>
          <a:p>
            <a:pPr marL="285750" indent="-28575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endParaRPr lang="fr-FR" sz="1800" dirty="0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D55A8DF7-83CB-F628-1B53-B1B705F8A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301739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574</Words>
  <Application>Microsoft Office PowerPoint</Application>
  <PresentationFormat>Grand écran</PresentationFormat>
  <Paragraphs>148</Paragraphs>
  <Slides>15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21" baseType="lpstr">
      <vt:lpstr>Aptos</vt:lpstr>
      <vt:lpstr>Arial</vt:lpstr>
      <vt:lpstr>Calibri</vt:lpstr>
      <vt:lpstr>Calibri Light</vt:lpstr>
      <vt:lpstr>Wingdings</vt:lpstr>
      <vt:lpstr>Thème Office</vt:lpstr>
      <vt:lpstr>Projet HarmoniaWear Projet présenté pour le Titre Professionnel Développeur Web et Web Mobile</vt:lpstr>
      <vt:lpstr>Contexte du projet</vt:lpstr>
      <vt:lpstr>Objectifs du projet</vt:lpstr>
      <vt:lpstr>Périmètre fonctionnel</vt:lpstr>
      <vt:lpstr>Choix techniques</vt:lpstr>
      <vt:lpstr>Architecture générale</vt:lpstr>
      <vt:lpstr>Interface utilisateur</vt:lpstr>
      <vt:lpstr>Dynamique front-end</vt:lpstr>
      <vt:lpstr>Modèle de données</vt:lpstr>
      <vt:lpstr>Back-end et logique métier</vt:lpstr>
      <vt:lpstr>Sécurité et bonnes pratiques</vt:lpstr>
      <vt:lpstr>Qualité du code</vt:lpstr>
      <vt:lpstr>Tests et vérifications</vt:lpstr>
      <vt:lpstr>Difficultés rencontrées</vt:lpstr>
      <vt:lpstr>Conclusion et évolutions possibles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Abdel-Aziz Mouloud</dc:creator>
  <cp:lastModifiedBy>Abdel-Aziz Mouloud</cp:lastModifiedBy>
  <cp:revision>4</cp:revision>
  <dcterms:created xsi:type="dcterms:W3CDTF">2026-01-19T17:12:21Z</dcterms:created>
  <dcterms:modified xsi:type="dcterms:W3CDTF">2026-01-22T02:16:22Z</dcterms:modified>
</cp:coreProperties>
</file>